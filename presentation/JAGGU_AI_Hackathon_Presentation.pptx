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— Slide 1: The Problem</a:t>
            </a:r>
          </a:p>
          <a:p/>
          <a:p>
            <a:r>
              <a:t>Open strong: "Every D2C brand ships thousands of orders. But up to 35% never get delivered."</a:t>
            </a:r>
          </a:p>
          <a:p/>
          <a:p>
            <a:r>
              <a:t>Key talking points:</a:t>
            </a:r>
          </a:p>
          <a:p>
            <a:r>
              <a:t>- The average D2C brand on Velocity loses 25–35% of shipments to NDR and RTO</a:t>
            </a:r>
          </a:p>
          <a:p>
            <a:r>
              <a:t>- For a seller doing 10,000 orders/month at ₹1,200 AOV, that's ₹4.2 crore in failed delivery revenue</a:t>
            </a:r>
          </a:p>
          <a:p>
            <a:r>
              <a:t>- Root causes: no real-time intelligence, manual operations, courier blind spots</a:t>
            </a:r>
          </a:p>
          <a:p>
            <a:r>
              <a:t>- Current tools are dashboards — they show what happened, not what to do</a:t>
            </a:r>
          </a:p>
          <a:p/>
          <a:p>
            <a:r>
              <a:t>End: "This is the problem JAGGU AI was built to solve."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— Slide 2: Introducing JAGGU AI</a:t>
            </a:r>
          </a:p>
          <a:p/>
          <a:p>
            <a:r>
              <a:t>Position clearly: "JAGGU is not another dashboard. It's an AI consultant that thinks like your best KAM."</a:t>
            </a:r>
          </a:p>
          <a:p/>
          <a:p>
            <a:r>
              <a:t>Key differentiators:</a:t>
            </a:r>
          </a:p>
          <a:p>
            <a:r>
              <a:t>- JAGGU analyses seller data and gives Observation → Root Cause → Recommendation → Expected Impact</a:t>
            </a:r>
          </a:p>
          <a:p>
            <a:r>
              <a:t>- It covers 6 intelligence layers: Delivery, Courier, Product, Pincode, VAS, Operations</a:t>
            </a:r>
          </a:p>
          <a:p>
            <a:r>
              <a:t>- Built on Velocity GDI — Growth &amp; Delivery Intelligence Engine</a:t>
            </a:r>
          </a:p>
          <a:p>
            <a:r>
              <a:t>- Every answer is backed by the seller's actual shipment data</a:t>
            </a:r>
          </a:p>
          <a:p/>
          <a:p>
            <a:r>
              <a:t>Demo moment: "If you ask JAGGU why RTO is high, it tells you exactly which courier, which state, which product — and what to do about it TODAY."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— Slide 3: How JAGGU Works</a:t>
            </a:r>
          </a:p>
          <a:p/>
          <a:p>
            <a:r>
              <a:t>Walk through the pipeline left to right:</a:t>
            </a:r>
          </a:p>
          <a:p>
            <a:r>
              <a:t>"Data flows in from Google Sheets or Metabase → Velocity GDI processes it → JAGGU analyses and responds."</a:t>
            </a:r>
          </a:p>
          <a:p/>
          <a:p>
            <a:r>
              <a:t>Highlight the response format:</a:t>
            </a:r>
          </a:p>
          <a:p>
            <a:r>
              <a:t>"Every JAGGU answer has four parts: Observation (what the data shows), Root Cause (why), Recommendation (what to do), and Expected Impact (how many shipments recovered)."</a:t>
            </a:r>
          </a:p>
          <a:p/>
          <a:p>
            <a:r>
              <a:t>This is NOT generic AI. Every answer is grounded in the seller's actual data for the selected date range.</a:t>
            </a:r>
          </a:p>
          <a:p/>
          <a:p>
            <a:r>
              <a:t>Demo cue: Show the JaGau AI page answering 'Why is RTO high?' for a specific seller. Point to Observation → Root Cause → Recommendation → Impact structure.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— Slide 4: Business Impact</a:t>
            </a:r>
          </a:p>
          <a:p/>
          <a:p>
            <a:r>
              <a:t>Lead with the numbers: "For a 10,000 order/month seller at 65% delivery — JAGGU can add 1,700+ deliveries per month."</a:t>
            </a:r>
          </a:p>
          <a:p/>
          <a:p>
            <a:r>
              <a:t>Walk through the VAS stack:</a:t>
            </a:r>
          </a:p>
          <a:p>
            <a:r>
              <a:t>- AI Calling: 38% of stuck NDRs recovered via IVR outreach</a:t>
            </a:r>
          </a:p>
          <a:p>
            <a:r>
              <a:t>- WhatsApp NDR: COD buyers re-engaged, 8% fewer RTOs</a:t>
            </a:r>
          </a:p>
          <a:p>
            <a:r>
              <a:t>- Order Confirmation: fake/impulsive orders caught BEFORE dispatch</a:t>
            </a:r>
          </a:p>
          <a:p>
            <a:r>
              <a:t>- Courier Optimization: data shows which courier to use per state</a:t>
            </a:r>
          </a:p>
          <a:p>
            <a:r>
              <a:t>- Pincode Blocking: zero-cost policy change prevents bad-pincode COD</a:t>
            </a:r>
          </a:p>
          <a:p/>
          <a:p>
            <a:r>
              <a:t>Important: "These are real benchmarks, not projections. JAGGU calculates these from the seller's actual data."</a:t>
            </a:r>
          </a:p>
          <a:p/>
          <a:p>
            <a:r>
              <a:t>If challenged on numbers: "We show recoverable shipments, not assumed revenue. All calculations are based on actual NDR counts and industry-standard recovery rates."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— Slide 5: Why JAGGU Wins</a:t>
            </a:r>
          </a:p>
          <a:p/>
          <a:p>
            <a:r>
              <a:t>This is your closing. Own it.</a:t>
            </a:r>
          </a:p>
          <a:p/>
          <a:p>
            <a:r>
              <a:t>"Dashboards tell you what happened. JAGGU tells you what to do about it — right now, for this seller, based on their actual data."</a:t>
            </a:r>
          </a:p>
          <a:p/>
          <a:p>
            <a:r>
              <a:t>Three-line pitch for judges:</a:t>
            </a:r>
          </a:p>
          <a:p>
            <a:r>
              <a:t>"One AI consultant. Thousands of sellers. Millions of deliveries optimized."</a:t>
            </a:r>
          </a:p>
          <a:p/>
          <a:p>
            <a:r>
              <a:t>Why it wins vs competitors:</a:t>
            </a:r>
          </a:p>
          <a:p>
            <a:r>
              <a:t>1. Not a generic chatbot — every answer is grounded in the seller's shipment data</a:t>
            </a:r>
          </a:p>
          <a:p>
            <a:r>
              <a:t>2. Not a dashboard — proactive, conversational, actionable</a:t>
            </a:r>
          </a:p>
          <a:p>
            <a:r>
              <a:t>3. Velocity-native — VAS recommendations are specific to Velocity's product suite</a:t>
            </a:r>
          </a:p>
          <a:p>
            <a:r>
              <a:t>4. Demo-ready — live on Google Sheets data, works in the browser right now</a:t>
            </a:r>
          </a:p>
          <a:p/>
          <a:p>
            <a:r>
              <a:t>Close with: "JAGGU is live, it's working, and it's ready to scale across Velocity's seller network."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21440" y="1097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01 /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C084FC"/>
                </a:solidFill>
                <a:latin typeface="Calibri"/>
              </a:rPr>
              <a:t>D2C Brands Lose Revenue Due to Failed Deliveries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3474720" cy="4206240"/>
          </a:xfrm>
          <a:prstGeom prst="rect">
            <a:avLst/>
          </a:prstGeom>
          <a:solidFill>
            <a:srgbClr val="111827"/>
          </a:solidFill>
          <a:ln w="1016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508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  <a:latin typeface="Calibri"/>
              </a:rPr>
              <a:t>Key Challenges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874519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7171"/>
                </a:solidFill>
                <a:latin typeface="Calibri"/>
              </a:rPr>
              <a:t>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1874519"/>
            <a:ext cx="2944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1D5DB"/>
                </a:solidFill>
                <a:latin typeface="Calibri"/>
              </a:rPr>
              <a:t>High RTO (Return to Origin)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167127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7171"/>
                </a:solidFill>
                <a:latin typeface="Calibri"/>
              </a:rPr>
              <a:t>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2167127"/>
            <a:ext cx="2944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1D5DB"/>
                </a:solidFill>
                <a:latin typeface="Calibri"/>
              </a:rPr>
              <a:t>High NDR (Non-Delivery)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459735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7171"/>
                </a:solidFill>
                <a:latin typeface="Calibri"/>
              </a:rPr>
              <a:t>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2459735"/>
            <a:ext cx="2944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1D5DB"/>
                </a:solidFill>
                <a:latin typeface="Calibri"/>
              </a:rPr>
              <a:t>Customer Unreachable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752343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7171"/>
                </a:solidFill>
                <a:latin typeface="Calibri"/>
              </a:rPr>
              <a:t>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2752343"/>
            <a:ext cx="2944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1D5DB"/>
                </a:solidFill>
                <a:latin typeface="Calibri"/>
              </a:rPr>
              <a:t>Courier Underperformance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044951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7171"/>
                </a:solidFill>
                <a:latin typeface="Calibri"/>
              </a:rPr>
              <a:t>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" y="3044951"/>
            <a:ext cx="2944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1D5DB"/>
                </a:solidFill>
                <a:latin typeface="Calibri"/>
              </a:rPr>
              <a:t>Poor Courier Allocation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337559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7171"/>
                </a:solidFill>
                <a:latin typeface="Calibri"/>
              </a:rPr>
              <a:t>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" y="3337559"/>
            <a:ext cx="2944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1D5DB"/>
                </a:solidFill>
                <a:latin typeface="Calibri"/>
              </a:rPr>
              <a:t>Lack of Operational Visibility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630167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7171"/>
                </a:solidFill>
                <a:latin typeface="Calibri"/>
              </a:rPr>
              <a:t>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" y="3630167"/>
            <a:ext cx="2944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1D5DB"/>
                </a:solidFill>
                <a:latin typeface="Calibri"/>
              </a:rPr>
              <a:t>Manual Analysis &amp; Reporting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023360" y="1417320"/>
            <a:ext cx="3840480" cy="4206240"/>
          </a:xfrm>
          <a:prstGeom prst="rect">
            <a:avLst/>
          </a:prstGeom>
          <a:solidFill>
            <a:srgbClr val="0F1726"/>
          </a:solidFill>
          <a:ln w="1016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60520" y="150876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7171"/>
                </a:solidFill>
                <a:latin typeface="Calibri"/>
              </a:rPr>
              <a:t>Business Impact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60520" y="1920240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CA3AF"/>
                </a:solidFill>
                <a:latin typeface="Calibri"/>
              </a:rPr>
              <a:t>Example Seller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60520" y="224028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10,000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60520" y="283464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Orders / Month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60520" y="3154680"/>
            <a:ext cx="3566160" cy="18288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60520" y="324612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BBF24"/>
                </a:solidFill>
                <a:latin typeface="Calibri"/>
              </a:rPr>
              <a:t>65%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32918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Delivery
Rate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60520" y="388620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87171"/>
                </a:solidFill>
                <a:latin typeface="Calibri"/>
              </a:rPr>
              <a:t>3,500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39319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Orders
Failed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60520" y="452628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CA3AF"/>
                </a:solidFill>
                <a:latin typeface="Calibri"/>
              </a:rPr>
              <a:t>Revenue at risk every month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46720" y="1417320"/>
            <a:ext cx="3749039" cy="4206240"/>
          </a:xfrm>
          <a:prstGeom prst="rect">
            <a:avLst/>
          </a:prstGeom>
          <a:solidFill>
            <a:srgbClr val="111827"/>
          </a:solidFill>
          <a:ln w="101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83879" y="15087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84FC"/>
                </a:solidFill>
                <a:latin typeface="Calibri"/>
              </a:rPr>
              <a:t>The Failure Chain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9600" y="1965960"/>
            <a:ext cx="2468880" cy="329184"/>
          </a:xfrm>
          <a:prstGeom prst="rect">
            <a:avLst/>
          </a:prstGeom>
          <a:solidFill>
            <a:srgbClr val="1F2937"/>
          </a:solidFill>
          <a:ln w="63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75320" y="2002536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📦 Order Placed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2295144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CA3AF"/>
                </a:solidFill>
                <a:latin typeface="Calibri"/>
              </a:rPr>
              <a:t>↓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29600" y="2487168"/>
            <a:ext cx="2468880" cy="329184"/>
          </a:xfrm>
          <a:prstGeom prst="rect">
            <a:avLst/>
          </a:prstGeom>
          <a:solidFill>
            <a:srgbClr val="1F2937"/>
          </a:solidFill>
          <a:ln w="63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75320" y="2523744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1D5DB"/>
                </a:solidFill>
                <a:latin typeface="Calibri"/>
              </a:rPr>
              <a:t>🚚 Dispatched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0" y="2816351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CA3AF"/>
                </a:solidFill>
                <a:latin typeface="Calibri"/>
              </a:rPr>
              <a:t>↓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29600" y="3008375"/>
            <a:ext cx="2468880" cy="329184"/>
          </a:xfrm>
          <a:prstGeom prst="rect">
            <a:avLst/>
          </a:prstGeom>
          <a:solidFill>
            <a:srgbClr val="2D1F07"/>
          </a:solidFill>
          <a:ln w="63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75320" y="3044951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BBF24"/>
                </a:solidFill>
                <a:latin typeface="Calibri"/>
              </a:rPr>
              <a:t>⚠️ NDR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0" y="3337559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CA3AF"/>
                </a:solidFill>
                <a:latin typeface="Calibri"/>
              </a:rPr>
              <a:t>↓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229600" y="3529583"/>
            <a:ext cx="2468880" cy="329184"/>
          </a:xfrm>
          <a:prstGeom prst="rect">
            <a:avLst/>
          </a:prstGeom>
          <a:solidFill>
            <a:srgbClr val="1F2937"/>
          </a:solidFill>
          <a:ln w="63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75320" y="3566159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1D5DB"/>
                </a:solidFill>
                <a:latin typeface="Calibri"/>
              </a:rPr>
              <a:t>🔄 Reattempt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0" y="3858768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CA3AF"/>
                </a:solidFill>
                <a:latin typeface="Calibri"/>
              </a:rPr>
              <a:t>↓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229600" y="4050791"/>
            <a:ext cx="2468880" cy="329184"/>
          </a:xfrm>
          <a:prstGeom prst="rect">
            <a:avLst/>
          </a:prstGeom>
          <a:solidFill>
            <a:srgbClr val="2D0707"/>
          </a:solidFill>
          <a:ln w="63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75320" y="408736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7171"/>
                </a:solidFill>
                <a:latin typeface="Calibri"/>
              </a:rPr>
              <a:t>❌ RTO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0" y="4379976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CA3AF"/>
                </a:solidFill>
                <a:latin typeface="Calibri"/>
              </a:rPr>
              <a:t>↓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229600" y="4572000"/>
            <a:ext cx="2468880" cy="329184"/>
          </a:xfrm>
          <a:prstGeom prst="rect">
            <a:avLst/>
          </a:prstGeom>
          <a:solidFill>
            <a:srgbClr val="2D0707"/>
          </a:solidFill>
          <a:ln w="63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275320" y="4608576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7171"/>
                </a:solidFill>
                <a:latin typeface="Calibri"/>
              </a:rPr>
              <a:t>💸 Revenue Loss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74320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CA3AF"/>
                </a:solidFill>
                <a:latin typeface="Calibri"/>
              </a:rPr>
              <a:t>VELOCITY GDI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8680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CA3AF"/>
                </a:solidFill>
                <a:latin typeface="Calibri"/>
              </a:rPr>
              <a:t>Confidential · Hackathon Demo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21440" y="1097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02 / 05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4864"/>
            <a:ext cx="12188952" cy="1371600"/>
          </a:xfrm>
          <a:prstGeom prst="rect">
            <a:avLst/>
          </a:prstGeom>
          <a:solidFill>
            <a:srgbClr val="0F0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🤖  JAGGU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80467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084FC"/>
                </a:solidFill>
                <a:latin typeface="Calibri"/>
              </a:rPr>
              <a:t>Powered by Velocity GDI — Growth &amp; Delivery Intelligence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298448"/>
            <a:ext cx="4389120" cy="34747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316736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Your AI KAM &amp; Operations Expert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828800"/>
            <a:ext cx="4754880" cy="1234440"/>
          </a:xfrm>
          <a:prstGeom prst="rect">
            <a:avLst/>
          </a:prstGeom>
          <a:solidFill>
            <a:srgbClr val="1A0A2E"/>
          </a:solidFill>
          <a:ln w="101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92024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BBF24"/>
                </a:solidFill>
                <a:latin typeface="Calibri"/>
              </a:rPr>
              <a:t>Not a Dashboard.  Not a Chatbot.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267712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  <a:latin typeface="Calibri"/>
              </a:rPr>
              <a:t>An AI Growth &amp; Delivery Consultant.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615184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  <a:latin typeface="Calibri"/>
              </a:rPr>
              <a:t>JAGGU gives proactive, personalised insights — not reports.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200400"/>
            <a:ext cx="1874519" cy="1005840"/>
          </a:xfrm>
          <a:prstGeom prst="rect">
            <a:avLst/>
          </a:prstGeom>
          <a:solidFill>
            <a:srgbClr val="111827"/>
          </a:solidFill>
          <a:ln w="1016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3273552"/>
            <a:ext cx="18745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3675887"/>
            <a:ext cx="18745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Delivery
Intelligence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04287" y="3200400"/>
            <a:ext cx="1874519" cy="1005840"/>
          </a:xfrm>
          <a:prstGeom prst="rect">
            <a:avLst/>
          </a:prstGeom>
          <a:solidFill>
            <a:srgbClr val="111827"/>
          </a:solidFill>
          <a:ln w="101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04287" y="3273552"/>
            <a:ext cx="18745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04287" y="3675887"/>
            <a:ext cx="18745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Courier
Intelligence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42816" y="3200400"/>
            <a:ext cx="1874519" cy="1005840"/>
          </a:xfrm>
          <a:prstGeom prst="rect">
            <a:avLst/>
          </a:prstGeom>
          <a:solidFill>
            <a:srgbClr val="111827"/>
          </a:solidFill>
          <a:ln w="10160">
            <a:solidFill>
              <a:srgbClr val="069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42816" y="3273552"/>
            <a:ext cx="18745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42816" y="3675887"/>
            <a:ext cx="18745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Product
Intelligence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81344" y="3200400"/>
            <a:ext cx="1874519" cy="1005840"/>
          </a:xfrm>
          <a:prstGeom prst="rect">
            <a:avLst/>
          </a:prstGeom>
          <a:solidFill>
            <a:srgbClr val="111827"/>
          </a:solidFill>
          <a:ln w="10160">
            <a:solidFill>
              <a:srgbClr val="924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81344" y="3273552"/>
            <a:ext cx="18745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81344" y="3675887"/>
            <a:ext cx="18745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Pincode
Intelligence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19871" y="3200400"/>
            <a:ext cx="1874519" cy="1005840"/>
          </a:xfrm>
          <a:prstGeom prst="rect">
            <a:avLst/>
          </a:prstGeom>
          <a:solidFill>
            <a:srgbClr val="111827"/>
          </a:solidFill>
          <a:ln w="1016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19871" y="3273552"/>
            <a:ext cx="18745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⚙️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19871" y="3675887"/>
            <a:ext cx="18745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VAS
Recommendations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58399" y="3200400"/>
            <a:ext cx="1874519" cy="1005840"/>
          </a:xfrm>
          <a:prstGeom prst="rect">
            <a:avLst/>
          </a:prstGeom>
          <a:solidFill>
            <a:srgbClr val="111827"/>
          </a:solidFill>
          <a:ln w="1016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399" y="3273552"/>
            <a:ext cx="18745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399" y="3675887"/>
            <a:ext cx="18745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Operational
Intelligence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44074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9CA3AF"/>
                </a:solidFill>
                <a:latin typeface="Calibri"/>
              </a:rPr>
              <a:t>HOW JAGGU WORKS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371600" y="4736592"/>
            <a:ext cx="2183130" cy="566928"/>
          </a:xfrm>
          <a:prstGeom prst="rect">
            <a:avLst/>
          </a:prstGeom>
          <a:solidFill>
            <a:srgbClr val="4F46E5"/>
          </a:solidFill>
          <a:ln w="1016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71600" y="4736592"/>
            <a:ext cx="218313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Diagnose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54730" y="4828031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084FC"/>
                </a:solidFill>
                <a:latin typeface="Calibri"/>
              </a:rPr>
              <a:t>→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783330" y="4736592"/>
            <a:ext cx="2183130" cy="566928"/>
          </a:xfrm>
          <a:prstGeom prst="rect">
            <a:avLst/>
          </a:prstGeom>
          <a:solidFill>
            <a:srgbClr val="4F46E5"/>
          </a:solidFill>
          <a:ln w="1016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83330" y="4736592"/>
            <a:ext cx="218313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Recommend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66460" y="4828031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084FC"/>
                </a:solidFill>
                <a:latin typeface="Calibri"/>
              </a:rPr>
              <a:t>→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95060" y="4736592"/>
            <a:ext cx="2183130" cy="566928"/>
          </a:xfrm>
          <a:prstGeom prst="rect">
            <a:avLst/>
          </a:prstGeom>
          <a:solidFill>
            <a:srgbClr val="4F46E5"/>
          </a:solidFill>
          <a:ln w="1016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95060" y="4736592"/>
            <a:ext cx="218313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Optimize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78190" y="4828031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084FC"/>
                </a:solidFill>
                <a:latin typeface="Calibri"/>
              </a:rPr>
              <a:t>→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606790" y="4736592"/>
            <a:ext cx="2183130" cy="566928"/>
          </a:xfrm>
          <a:prstGeom prst="rect">
            <a:avLst/>
          </a:prstGeom>
          <a:solidFill>
            <a:srgbClr val="4F46E5"/>
          </a:solidFill>
          <a:ln w="1016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06790" y="4736592"/>
            <a:ext cx="218313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Deliver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4320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CA3AF"/>
                </a:solidFill>
                <a:latin typeface="Calibri"/>
              </a:rPr>
              <a:t>VELOCITY GDI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8680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CA3AF"/>
                </a:solidFill>
                <a:latin typeface="Calibri"/>
              </a:rPr>
              <a:t>Confidential · Hackathon Demo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21440" y="1097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03 /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How JAGGU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084FC"/>
                </a:solidFill>
                <a:latin typeface="Calibri"/>
              </a:rPr>
              <a:t>From raw shipment data to actionable intelligence in seconds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43000"/>
            <a:ext cx="2560320" cy="5074920"/>
          </a:xfrm>
          <a:prstGeom prst="rect">
            <a:avLst/>
          </a:prstGeom>
          <a:solidFill>
            <a:srgbClr val="0D1322"/>
          </a:solidFill>
          <a:ln w="1016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2344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CA3AF"/>
                </a:solidFill>
                <a:latin typeface="Calibri"/>
              </a:rPr>
              <a:t>DATA PIPELINE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00200"/>
            <a:ext cx="2194560" cy="402336"/>
          </a:xfrm>
          <a:prstGeom prst="rect">
            <a:avLst/>
          </a:prstGeom>
          <a:solidFill>
            <a:srgbClr val="1F2937"/>
          </a:solidFill>
          <a:ln w="508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664208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📂  Seller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002536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CA3AF"/>
                </a:solidFill>
                <a:latin typeface="Calibri"/>
              </a:rPr>
              <a:t>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194560"/>
            <a:ext cx="2194560" cy="402336"/>
          </a:xfrm>
          <a:prstGeom prst="rect">
            <a:avLst/>
          </a:prstGeom>
          <a:solidFill>
            <a:srgbClr val="1A122E"/>
          </a:solidFill>
          <a:ln w="508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258568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84FC"/>
                </a:solidFill>
                <a:latin typeface="Calibri"/>
              </a:rPr>
              <a:t>⚡  Velocity GDI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596896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CA3AF"/>
                </a:solidFill>
                <a:latin typeface="Calibri"/>
              </a:rPr>
              <a:t>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788920"/>
            <a:ext cx="2194560" cy="402336"/>
          </a:xfrm>
          <a:prstGeom prst="rect">
            <a:avLst/>
          </a:prstGeom>
          <a:solidFill>
            <a:srgbClr val="062017"/>
          </a:solidFill>
          <a:ln w="508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2852927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4D399"/>
                </a:solidFill>
                <a:latin typeface="Calibri"/>
              </a:rPr>
              <a:t>🤖  JAGGU 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191256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CA3AF"/>
                </a:solidFill>
                <a:latin typeface="Calibri"/>
              </a:rPr>
              <a:t>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383279"/>
            <a:ext cx="2194560" cy="402336"/>
          </a:xfrm>
          <a:prstGeom prst="rect">
            <a:avLst/>
          </a:prstGeom>
          <a:solidFill>
            <a:srgbClr val="2D1F07"/>
          </a:solidFill>
          <a:ln w="508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3447287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BBF24"/>
                </a:solidFill>
                <a:latin typeface="Calibri"/>
              </a:rPr>
              <a:t>🔍  Root Cause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785615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CA3AF"/>
                </a:solidFill>
                <a:latin typeface="Calibri"/>
              </a:rPr>
              <a:t>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977639"/>
            <a:ext cx="2194560" cy="402336"/>
          </a:xfrm>
          <a:prstGeom prst="rect">
            <a:avLst/>
          </a:prstGeom>
          <a:solidFill>
            <a:srgbClr val="062017"/>
          </a:solidFill>
          <a:ln w="508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4041648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4D399"/>
                </a:solidFill>
                <a:latin typeface="Calibri"/>
              </a:rPr>
              <a:t>✅  Recommendations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379976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CA3AF"/>
                </a:solidFill>
                <a:latin typeface="Calibri"/>
              </a:rPr>
              <a:t>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572000"/>
            <a:ext cx="2194560" cy="402336"/>
          </a:xfrm>
          <a:prstGeom prst="rect">
            <a:avLst/>
          </a:prstGeom>
          <a:solidFill>
            <a:srgbClr val="0D1322"/>
          </a:solidFill>
          <a:ln w="508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4636008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📈  Improved Delivery 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974336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CA3AF"/>
                </a:solidFill>
                <a:latin typeface="Calibri"/>
              </a:rPr>
              <a:t>↓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54680" y="1143000"/>
            <a:ext cx="4206240" cy="932688"/>
          </a:xfrm>
          <a:prstGeom prst="rect">
            <a:avLst/>
          </a:prstGeom>
          <a:solidFill>
            <a:srgbClr val="111827"/>
          </a:solidFill>
          <a:ln w="1016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64408" y="1216152"/>
            <a:ext cx="40233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❤️  Seller Health Score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64408" y="1545336"/>
            <a:ext cx="402335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  <a:latin typeface="Calibri"/>
              </a:rPr>
              <a:t>Overall delivery health with benchmark comparison · Health Score 0–100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54680" y="2212848"/>
            <a:ext cx="4206240" cy="932688"/>
          </a:xfrm>
          <a:prstGeom prst="rect">
            <a:avLst/>
          </a:prstGeom>
          <a:solidFill>
            <a:srgbClr val="111827"/>
          </a:solidFill>
          <a:ln w="101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64408" y="2286000"/>
            <a:ext cx="40233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🚚  Courier Intelligence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64408" y="2615184"/>
            <a:ext cx="402335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  <a:latin typeface="Calibri"/>
              </a:rPr>
              <a:t>Delivery rate by courier · Allocation recommendations · Concentration risk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54680" y="3282696"/>
            <a:ext cx="4206240" cy="932688"/>
          </a:xfrm>
          <a:prstGeom prst="rect">
            <a:avLst/>
          </a:prstGeom>
          <a:solidFill>
            <a:srgbClr val="111827"/>
          </a:solidFill>
          <a:ln w="1016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64408" y="3355848"/>
            <a:ext cx="40233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📦  Product Intelligence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64408" y="3685032"/>
            <a:ext cx="402335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  <a:latin typeface="Calibri"/>
              </a:rPr>
              <a:t>Top selling products · Highest RTO products · Revenue at risk by SKU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54680" y="4352544"/>
            <a:ext cx="4206240" cy="932688"/>
          </a:xfrm>
          <a:prstGeom prst="rect">
            <a:avLst/>
          </a:prstGeom>
          <a:solidFill>
            <a:srgbClr val="111827"/>
          </a:solidFill>
          <a:ln w="1016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64408" y="4425696"/>
            <a:ext cx="40233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📍  Pincode Intelligence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64408" y="4754880"/>
            <a:ext cx="402335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  <a:latin typeface="Calibri"/>
              </a:rPr>
              <a:t>Opportunity pincodes · Risk pincodes · High-NDR clusters · Courier mismatch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154680" y="5422392"/>
            <a:ext cx="4206240" cy="932688"/>
          </a:xfrm>
          <a:prstGeom prst="rect">
            <a:avLst/>
          </a:prstGeom>
          <a:solidFill>
            <a:srgbClr val="111827"/>
          </a:solidFill>
          <a:ln w="1016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64408" y="5495544"/>
            <a:ext cx="40233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⚙️  VAS Recommendations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64408" y="5824728"/>
            <a:ext cx="402335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  <a:latin typeface="Calibri"/>
              </a:rPr>
              <a:t>AI Calling · WhatsApp NDR · Order Confirmation · Courier Optimization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543800" y="1143000"/>
            <a:ext cx="4297680" cy="5074920"/>
          </a:xfrm>
          <a:prstGeom prst="rect">
            <a:avLst/>
          </a:prstGeom>
          <a:solidFill>
            <a:srgbClr val="0A0F1E"/>
          </a:solidFill>
          <a:ln w="1016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680960" y="123444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CA3AF"/>
                </a:solidFill>
                <a:latin typeface="Calibri"/>
              </a:rPr>
              <a:t>JAGGU RESPONSE FORMAT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680960" y="1600200"/>
            <a:ext cx="3977639" cy="804672"/>
          </a:xfrm>
          <a:prstGeom prst="rect">
            <a:avLst/>
          </a:prstGeom>
          <a:solidFill>
            <a:srgbClr val="151C2E"/>
          </a:solidFill>
          <a:ln w="381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72400" y="164592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84FC"/>
                </a:solidFill>
                <a:latin typeface="Calibri"/>
              </a:rPr>
              <a:t>📊 Observation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0" y="1947672"/>
            <a:ext cx="374903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  <a:latin typeface="Calibri"/>
              </a:rPr>
              <a:t>What the data shows — with real numbers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680960" y="2615184"/>
            <a:ext cx="3977639" cy="804672"/>
          </a:xfrm>
          <a:prstGeom prst="rect">
            <a:avLst/>
          </a:prstGeom>
          <a:solidFill>
            <a:srgbClr val="151C2E"/>
          </a:solidFill>
          <a:ln w="381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772400" y="2660903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BBF24"/>
                </a:solidFill>
                <a:latin typeface="Calibri"/>
              </a:rPr>
              <a:t>🔍 Root Cause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772400" y="2962656"/>
            <a:ext cx="374903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  <a:latin typeface="Calibri"/>
              </a:rPr>
              <a:t>Why it's happening — courier, state, product, COD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680960" y="3630168"/>
            <a:ext cx="3977639" cy="804672"/>
          </a:xfrm>
          <a:prstGeom prst="rect">
            <a:avLst/>
          </a:prstGeom>
          <a:solidFill>
            <a:srgbClr val="151C2E"/>
          </a:solidFill>
          <a:ln w="381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772400" y="3675887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4D399"/>
                </a:solidFill>
                <a:latin typeface="Calibri"/>
              </a:rPr>
              <a:t>✅ Recommendation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72400" y="3977639"/>
            <a:ext cx="374903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  <a:latin typeface="Calibri"/>
              </a:rPr>
              <a:t>Specific Velocity action — not generic advice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680960" y="4645152"/>
            <a:ext cx="3977639" cy="804672"/>
          </a:xfrm>
          <a:prstGeom prst="rect">
            <a:avLst/>
          </a:prstGeom>
          <a:solidFill>
            <a:srgbClr val="151C2E"/>
          </a:solidFill>
          <a:ln w="381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772400" y="4690872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📈 Expected Impact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772400" y="4992624"/>
            <a:ext cx="374903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  <a:latin typeface="Calibri"/>
              </a:rPr>
              <a:t>Recoverable shipments or delivery gain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74320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CA3AF"/>
                </a:solidFill>
                <a:latin typeface="Calibri"/>
              </a:rPr>
              <a:t>VELOCITY GDI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68680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CA3AF"/>
                </a:solidFill>
                <a:latin typeface="Calibri"/>
              </a:rPr>
              <a:t>Confidential · Hackathon Demo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21440" y="1097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04 /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Business Impact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1323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34D399"/>
                </a:solidFill>
                <a:latin typeface="Calibri"/>
              </a:rPr>
              <a:t>What changes when JAGGU is activated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43000"/>
            <a:ext cx="3383280" cy="4846320"/>
          </a:xfrm>
          <a:prstGeom prst="rect">
            <a:avLst/>
          </a:prstGeom>
          <a:solidFill>
            <a:srgbClr val="1A0707"/>
          </a:solidFill>
          <a:ln w="1016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2344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7171"/>
                </a:solidFill>
                <a:latin typeface="Calibri"/>
              </a:rPr>
              <a:t>BEFORE  JAGGU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6002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10,000 Orders / Month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901952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87171"/>
                </a:solidFill>
                <a:latin typeface="Calibri"/>
              </a:rPr>
              <a:t>65%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20116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1D5DB"/>
                </a:solidFill>
                <a:latin typeface="Calibri"/>
              </a:rPr>
              <a:t>Delivery
Rate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578608"/>
            <a:ext cx="3063240" cy="18288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65176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87171"/>
                </a:solidFill>
                <a:latin typeface="Calibri"/>
              </a:rPr>
              <a:t>3,500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272491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1D5DB"/>
                </a:solidFill>
                <a:latin typeface="Calibri"/>
              </a:rPr>
              <a:t>Orders
Failed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246120"/>
            <a:ext cx="3063240" cy="18288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31012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CA3AF"/>
                </a:solidFill>
                <a:latin typeface="Calibri"/>
              </a:rPr>
              <a:t>Reality Today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6118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87171"/>
                </a:solidFill>
                <a:latin typeface="Calibri"/>
              </a:rPr>
              <a:t>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" y="3611880"/>
            <a:ext cx="276148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  <a:latin typeface="Calibri"/>
              </a:rPr>
              <a:t>No courier intelligence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90448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87171"/>
                </a:solidFill>
                <a:latin typeface="Calibri"/>
              </a:rPr>
              <a:t>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" y="3904488"/>
            <a:ext cx="276148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  <a:latin typeface="Calibri"/>
              </a:rPr>
              <a:t>Manual NDR handling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197096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87171"/>
                </a:solidFill>
                <a:latin typeface="Calibri"/>
              </a:rPr>
              <a:t>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" y="4197096"/>
            <a:ext cx="276148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  <a:latin typeface="Calibri"/>
              </a:rPr>
              <a:t>No pincode restrictions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48970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87171"/>
                </a:solidFill>
                <a:latin typeface="Calibri"/>
              </a:rPr>
              <a:t>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" y="4489704"/>
            <a:ext cx="276148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  <a:latin typeface="Calibri"/>
              </a:rPr>
              <a:t>Reactive operations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78231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87171"/>
                </a:solidFill>
                <a:latin typeface="Calibri"/>
              </a:rPr>
              <a:t>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" y="4782312"/>
            <a:ext cx="276148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  <a:latin typeface="Calibri"/>
              </a:rPr>
              <a:t>Slow decision making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0" y="29260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084FC"/>
                </a:solidFill>
                <a:latin typeface="Calibri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49039" y="3456432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084FC"/>
                </a:solidFill>
                <a:latin typeface="Calibri"/>
              </a:rPr>
              <a:t>JAGGU
AI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0" y="1143000"/>
            <a:ext cx="3383280" cy="4846320"/>
          </a:xfrm>
          <a:prstGeom prst="rect">
            <a:avLst/>
          </a:prstGeom>
          <a:solidFill>
            <a:srgbClr val="061C0E"/>
          </a:solidFill>
          <a:ln w="1016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09160" y="12344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4D399"/>
                </a:solidFill>
                <a:latin typeface="Calibri"/>
              </a:rPr>
              <a:t>AFTER  JAGGU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09160" y="16002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10,000 Orders / Month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09160" y="1901952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34D399"/>
                </a:solidFill>
                <a:latin typeface="Calibri"/>
              </a:rPr>
              <a:t>82%+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201168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1D5DB"/>
                </a:solidFill>
                <a:latin typeface="Calibri"/>
              </a:rPr>
              <a:t>Delivery
Rate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754880" y="2578608"/>
            <a:ext cx="3063240" cy="18288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09160" y="26517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34D399"/>
                </a:solidFill>
                <a:latin typeface="Calibri"/>
              </a:rPr>
              <a:t>+1,700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2724912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1D5DB"/>
                </a:solidFill>
                <a:latin typeface="Calibri"/>
              </a:rPr>
              <a:t>Extra
Deliveries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754880" y="3246120"/>
            <a:ext cx="3063240" cy="18288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09160" y="331012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CA3AF"/>
                </a:solidFill>
                <a:latin typeface="Calibri"/>
              </a:rPr>
              <a:t>With JAGGU Active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09160" y="36118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4D399"/>
                </a:solidFill>
                <a:latin typeface="Calibri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65192" y="3611880"/>
            <a:ext cx="276148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  <a:latin typeface="Calibri"/>
              </a:rPr>
              <a:t>AI Calling → 38% NDR recovery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09160" y="390448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4D399"/>
                </a:solidFill>
                <a:latin typeface="Calibri"/>
              </a:rP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65192" y="3904488"/>
            <a:ext cx="276148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  <a:latin typeface="Calibri"/>
              </a:rPr>
              <a:t>WhatsApp NDR → 8% COD RTO save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09160" y="4197096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4D399"/>
                </a:solidFill>
                <a:latin typeface="Calibri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65192" y="4197096"/>
            <a:ext cx="276148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  <a:latin typeface="Calibri"/>
              </a:rPr>
              <a:t>Courier optimization per state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09160" y="448970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4D399"/>
                </a:solidFill>
                <a:latin typeface="Calibri"/>
              </a:rPr>
              <a:t>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965192" y="4489704"/>
            <a:ext cx="276148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  <a:latin typeface="Calibri"/>
              </a:rPr>
              <a:t>Pincode COD restrictions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09160" y="478231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4D399"/>
                </a:solidFill>
                <a:latin typeface="Calibri"/>
              </a:rPr>
              <a:t>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65192" y="4782312"/>
            <a:ext cx="276148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  <a:latin typeface="Calibri"/>
              </a:rPr>
              <a:t>Order Confirmation pre-dispatch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138160" y="1143000"/>
            <a:ext cx="3703320" cy="4846320"/>
          </a:xfrm>
          <a:prstGeom prst="rect">
            <a:avLst/>
          </a:prstGeom>
          <a:solidFill>
            <a:srgbClr val="111827"/>
          </a:solidFill>
          <a:ln w="101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75320" y="12344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CA3AF"/>
                </a:solidFill>
                <a:latin typeface="Calibri"/>
              </a:rPr>
              <a:t>JAGGU ACTIVATES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275320" y="1600200"/>
            <a:ext cx="3429000" cy="621792"/>
          </a:xfrm>
          <a:prstGeom prst="rect">
            <a:avLst/>
          </a:prstGeom>
          <a:solidFill>
            <a:srgbClr val="0D1322"/>
          </a:solidFill>
          <a:ln w="508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66760" y="1645920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  <a:latin typeface="Calibri"/>
              </a:rPr>
              <a:t>📞 AI Calling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66760" y="1920240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  <a:latin typeface="Calibri"/>
              </a:rPr>
              <a:t>38% NDR recovery rate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275320" y="2350008"/>
            <a:ext cx="3429000" cy="621792"/>
          </a:xfrm>
          <a:prstGeom prst="rect">
            <a:avLst/>
          </a:prstGeom>
          <a:solidFill>
            <a:srgbClr val="0D1322"/>
          </a:solidFill>
          <a:ln w="508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366760" y="2395728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4D399"/>
                </a:solidFill>
                <a:latin typeface="Calibri"/>
              </a:rPr>
              <a:t>💬 WhatsApp NDR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66760" y="2670048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  <a:latin typeface="Calibri"/>
              </a:rPr>
              <a:t>8% COD RTO reduction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275320" y="3099816"/>
            <a:ext cx="3429000" cy="621792"/>
          </a:xfrm>
          <a:prstGeom prst="rect">
            <a:avLst/>
          </a:prstGeom>
          <a:solidFill>
            <a:srgbClr val="0D1322"/>
          </a:solidFill>
          <a:ln w="508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366760" y="3145536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BBF24"/>
                </a:solidFill>
                <a:latin typeface="Calibri"/>
              </a:rPr>
              <a:t>🔍 Order Confirm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66760" y="3419856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  <a:latin typeface="Calibri"/>
              </a:rPr>
              <a:t>12% pre-dispatch RTO block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275320" y="3849624"/>
            <a:ext cx="3429000" cy="621792"/>
          </a:xfrm>
          <a:prstGeom prst="rect">
            <a:avLst/>
          </a:prstGeom>
          <a:solidFill>
            <a:srgbClr val="0D1322"/>
          </a:solidFill>
          <a:ln w="508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366760" y="3895344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84FC"/>
                </a:solidFill>
                <a:latin typeface="Calibri"/>
              </a:rPr>
              <a:t>🚚 Courier Optimize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366760" y="4169664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  <a:latin typeface="Calibri"/>
              </a:rPr>
              <a:t>State-level rebalancing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275320" y="4599432"/>
            <a:ext cx="3429000" cy="621792"/>
          </a:xfrm>
          <a:prstGeom prst="rect">
            <a:avLst/>
          </a:prstGeom>
          <a:solidFill>
            <a:srgbClr val="0D1322"/>
          </a:solidFill>
          <a:ln w="508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366760" y="4645152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7171"/>
                </a:solidFill>
                <a:latin typeface="Calibri"/>
              </a:rPr>
              <a:t>📍 Pincode Block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366760" y="4919472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  <a:latin typeface="Calibri"/>
              </a:rPr>
              <a:t>Zero-cost COD restriction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275320" y="5349240"/>
            <a:ext cx="3429000" cy="621792"/>
          </a:xfrm>
          <a:prstGeom prst="rect">
            <a:avLst/>
          </a:prstGeom>
          <a:solidFill>
            <a:srgbClr val="0D1322"/>
          </a:solidFill>
          <a:ln w="508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366760" y="5394960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4D399"/>
                </a:solidFill>
                <a:latin typeface="Calibri"/>
              </a:rPr>
              <a:t>🚀 NDD Activation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366760" y="5669280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  <a:latin typeface="Calibri"/>
              </a:rPr>
              <a:t>Zone A/B next-day delivery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74320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CA3AF"/>
                </a:solidFill>
                <a:latin typeface="Calibri"/>
              </a:rPr>
              <a:t>VELOCITY GDI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68680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CA3AF"/>
                </a:solidFill>
                <a:latin typeface="Calibri"/>
              </a:rPr>
              <a:t>Confidential · Hackathon Demo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920240"/>
          </a:xfrm>
          <a:prstGeom prst="rect">
            <a:avLst/>
          </a:prstGeom>
          <a:solidFill>
            <a:srgbClr val="0F0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920240"/>
            <a:ext cx="12188952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21440" y="1097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05 /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Why JAGGU Wins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49808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084FC"/>
                </a:solidFill>
                <a:latin typeface="Calibri"/>
              </a:rPr>
              <a:t>The shift from reactive dashboards to proactive AI consulting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9844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Hackathon Demo Ready · Production Architecture · Velocity Integrated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029968"/>
            <a:ext cx="3794760" cy="2788920"/>
          </a:xfrm>
          <a:prstGeom prst="rect">
            <a:avLst/>
          </a:prstGeom>
          <a:solidFill>
            <a:srgbClr val="1A0707"/>
          </a:solidFill>
          <a:ln w="1016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12140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7171"/>
                </a:solidFill>
                <a:latin typeface="Calibri"/>
              </a:rPr>
              <a:t>❌  Without JAGGU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5146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7171"/>
                </a:solidFill>
                <a:latin typeface="Calibri"/>
              </a:rPr>
              <a:t>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2514600"/>
            <a:ext cx="321868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  <a:latin typeface="Calibri"/>
              </a:rPr>
              <a:t>Manual analysis in Excel/Sheets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80720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7171"/>
                </a:solidFill>
                <a:latin typeface="Calibri"/>
              </a:rPr>
              <a:t>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2807208"/>
            <a:ext cx="321868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  <a:latin typeface="Calibri"/>
              </a:rPr>
              <a:t>Multiple disconnected dashboards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099815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7171"/>
                </a:solidFill>
                <a:latin typeface="Calibri"/>
              </a:rPr>
              <a:t>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3099815"/>
            <a:ext cx="321868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  <a:latin typeface="Calibri"/>
              </a:rPr>
              <a:t>Reactive — act after damage done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392423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7171"/>
                </a:solidFill>
                <a:latin typeface="Calibri"/>
              </a:rPr>
              <a:t>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3392423"/>
            <a:ext cx="321868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  <a:latin typeface="Calibri"/>
              </a:rPr>
              <a:t>Slow decision making (days)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685031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7171"/>
                </a:solidFill>
                <a:latin typeface="Calibri"/>
              </a:rPr>
              <a:t>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" y="3685031"/>
            <a:ext cx="321868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  <a:latin typeface="Calibri"/>
              </a:rPr>
              <a:t>No courier intelligence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977639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7171"/>
                </a:solidFill>
                <a:latin typeface="Calibri"/>
              </a:rPr>
              <a:t>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" y="3977639"/>
            <a:ext cx="321868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  <a:latin typeface="Calibri"/>
              </a:rPr>
              <a:t>No VAS adoption guidance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27024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7171"/>
                </a:solidFill>
                <a:latin typeface="Calibri"/>
              </a:rPr>
              <a:t>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4270248"/>
            <a:ext cx="321868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  <a:latin typeface="Calibri"/>
              </a:rPr>
              <a:t>Generic advice, not seller-specific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97680" y="2029968"/>
            <a:ext cx="3794760" cy="2788920"/>
          </a:xfrm>
          <a:prstGeom prst="rect">
            <a:avLst/>
          </a:prstGeom>
          <a:solidFill>
            <a:srgbClr val="061C0E"/>
          </a:solidFill>
          <a:ln w="1016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80560" y="212140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4D399"/>
                </a:solidFill>
                <a:latin typeface="Calibri"/>
              </a:rPr>
              <a:t>✅  With JAGGU AI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25146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4D399"/>
                </a:solidFill>
                <a:latin typeface="Calibr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36592" y="2514600"/>
            <a:ext cx="321868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  <a:latin typeface="Calibri"/>
              </a:rPr>
              <a:t>AI KAM — instant consultant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280720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4D399"/>
                </a:solidFill>
                <a:latin typeface="Calibr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36592" y="2807208"/>
            <a:ext cx="321868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  <a:latin typeface="Calibri"/>
              </a:rPr>
              <a:t>One unified intelligence engine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3099815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4D399"/>
                </a:solidFill>
                <a:latin typeface="Calibr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36592" y="3099815"/>
            <a:ext cx="321868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  <a:latin typeface="Calibri"/>
              </a:rPr>
              <a:t>Proactive — act before damage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0560" y="3392423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4D399"/>
                </a:solidFill>
                <a:latin typeface="Calibri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36592" y="3392423"/>
            <a:ext cx="321868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  <a:latin typeface="Calibri"/>
              </a:rPr>
              <a:t>Instant decisions (seconds)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80560" y="3685031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4D399"/>
                </a:solidFill>
                <a:latin typeface="Calibri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36592" y="3685031"/>
            <a:ext cx="321868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  <a:latin typeface="Calibri"/>
              </a:rPr>
              <a:t>Courier optimization per state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0560" y="3977639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4D399"/>
                </a:solidFill>
                <a:latin typeface="Calibri"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36592" y="3977639"/>
            <a:ext cx="321868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  <a:latin typeface="Calibri"/>
              </a:rPr>
              <a:t>VAS recommendations ranked by impact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80560" y="427024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4D399"/>
                </a:solidFill>
                <a:latin typeface="Calibri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36592" y="4270248"/>
            <a:ext cx="321868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  <a:latin typeface="Calibri"/>
              </a:rPr>
              <a:t>Personalised per seller, per SKU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75320" y="2029968"/>
            <a:ext cx="3566160" cy="2788920"/>
          </a:xfrm>
          <a:prstGeom prst="rect">
            <a:avLst/>
          </a:prstGeom>
          <a:solidFill>
            <a:srgbClr val="0F0A2E"/>
          </a:solidFill>
          <a:ln w="101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12480" y="2176272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One AI Consultant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12480" y="2633472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084FC"/>
                </a:solidFill>
                <a:latin typeface="Calibri"/>
              </a:rPr>
              <a:t>Thousands of
Sellers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12480" y="3273552"/>
            <a:ext cx="32918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4D399"/>
                </a:solidFill>
                <a:latin typeface="Calibri"/>
              </a:rPr>
              <a:t>Millions of
Deliveries
Optimized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4983480"/>
            <a:ext cx="11430000" cy="1554480"/>
          </a:xfrm>
          <a:prstGeom prst="rect">
            <a:avLst/>
          </a:prstGeom>
          <a:solidFill>
            <a:srgbClr val="0F0A2E"/>
          </a:solidFill>
          <a:ln w="101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5074920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JAGGU AI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56509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C084FC"/>
                </a:solidFill>
                <a:latin typeface="Calibri"/>
              </a:rPr>
              <a:t>Turning Delivery Data into Growth Decisions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60533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CA3AF"/>
                </a:solidFill>
                <a:latin typeface="Calibri"/>
              </a:rPr>
              <a:t>Powered by Velocity Shipping  ·  Built with Claude AI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4320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CA3AF"/>
                </a:solidFill>
                <a:latin typeface="Calibri"/>
              </a:rPr>
              <a:t>VELOCITY GDI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8680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CA3AF"/>
                </a:solidFill>
                <a:latin typeface="Calibri"/>
              </a:rPr>
              <a:t>Confidential · Hackathon Demo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